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761C1DDB-D593-87C5-A6AE-2E0BF3D5F57E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83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PS ID, theme, Team ID and Team Name before submitting. Open with the one-line pitch: a Waze-style rescue network for EV drivers, powered by idle private chargers.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on the left, solution on the right. The colour-coded tiers are the heart of the idea: a driver in an emergency should see at a glance which charger will actually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screens are mockups of the prototype flow: discover on the map, see the compatibility tier and book a slot, then pay with a simulated gateway. Replace them with real screenshots once the prototype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on the left is answered by the item in the same row on the right. The commission range is our proposed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for the three groups on the left; a simple three-layer architecture on the right. Keep the stack simple for a hackathon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A82"/>
                </a:solidFill>
              </a:rPr>
              <a:t>ChargeShare  |  Peer-to-Peer Emergency EV Charging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k title"/>
          <p:cNvSpPr txBox="1"/>
          <p:nvPr/>
        </p:nvSpPr>
        <p:spPr>
          <a:xfrm>
            <a:off x="484632" y="7040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ChargeShare</a:t>
            </a:r>
            <a:endParaRPr lang="en-US" sz="4400" dirty="0"/>
          </a:p>
        </p:txBody>
      </p:sp>
      <p:sp>
        <p:nvSpPr>
          <p:cNvPr id="4" name="Deck tagline"/>
          <p:cNvSpPr txBox="1"/>
          <p:nvPr/>
        </p:nvSpPr>
        <p:spPr>
          <a:xfrm>
            <a:off x="54864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Peer-to-peer emergency EV charging network</a:t>
            </a:r>
            <a:endParaRPr lang="en-US" sz="1600" dirty="0"/>
          </a:p>
        </p:txBody>
      </p:sp>
      <p:sp>
        <p:nvSpPr>
          <p:cNvPr id="17" name="Radar ring 1"/>
          <p:cNvSpPr/>
          <p:nvPr/>
        </p:nvSpPr>
        <p:spPr>
          <a:xfrm>
            <a:off x="4937760" y="777240"/>
            <a:ext cx="3840480" cy="3840480"/>
          </a:xfrm>
          <a:prstGeom prst="ellipse">
            <a:avLst/>
          </a:prstGeom>
          <a:solidFill>
            <a:srgbClr val="123C45">
              <a:alpha val="30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Radar ring 2"/>
          <p:cNvSpPr/>
          <p:nvPr/>
        </p:nvSpPr>
        <p:spPr>
          <a:xfrm>
            <a:off x="5486400" y="1325880"/>
            <a:ext cx="2743200" cy="2743200"/>
          </a:xfrm>
          <a:prstGeom prst="ellipse">
            <a:avLst/>
          </a:prstGeom>
          <a:solidFill>
            <a:srgbClr val="123C45">
              <a:alpha val="30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Radar ring 3"/>
          <p:cNvSpPr/>
          <p:nvPr/>
        </p:nvSpPr>
        <p:spPr>
          <a:xfrm>
            <a:off x="6035040" y="1874520"/>
            <a:ext cx="1645920" cy="1645920"/>
          </a:xfrm>
          <a:prstGeom prst="ellipse">
            <a:avLst/>
          </a:prstGeom>
          <a:solidFill>
            <a:srgbClr val="123C45">
              <a:alpha val="60000"/>
            </a:srgb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Driver circle"/>
          <p:cNvSpPr/>
          <p:nvPr/>
        </p:nvSpPr>
        <p:spPr>
          <a:xfrm>
            <a:off x="6446520" y="22860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Driv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490" y="2499970"/>
            <a:ext cx="395021" cy="395021"/>
          </a:xfrm>
          <a:prstGeom prst="rect">
            <a:avLst/>
          </a:prstGeom>
        </p:spPr>
      </p:pic>
      <p:sp>
        <p:nvSpPr>
          <p:cNvPr id="22" name="Green pin"/>
          <p:cNvSpPr/>
          <p:nvPr/>
        </p:nvSpPr>
        <p:spPr>
          <a:xfrm>
            <a:off x="5614416" y="1316736"/>
            <a:ext cx="384048" cy="384048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23" name="Green pin dot"/>
          <p:cNvSpPr/>
          <p:nvPr/>
        </p:nvSpPr>
        <p:spPr>
          <a:xfrm>
            <a:off x="5733288" y="14356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reen chip"/>
          <p:cNvSpPr/>
          <p:nvPr/>
        </p:nvSpPr>
        <p:spPr>
          <a:xfrm>
            <a:off x="5212080" y="17647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reen chip text"/>
          <p:cNvSpPr txBox="1"/>
          <p:nvPr/>
        </p:nvSpPr>
        <p:spPr>
          <a:xfrm>
            <a:off x="5212080" y="1764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0.8 km  Green</a:t>
            </a:r>
            <a:endParaRPr lang="en-US" sz="1100" dirty="0"/>
          </a:p>
        </p:txBody>
      </p:sp>
      <p:sp>
        <p:nvSpPr>
          <p:cNvPr id="26" name="Yellow pin"/>
          <p:cNvSpPr/>
          <p:nvPr/>
        </p:nvSpPr>
        <p:spPr>
          <a:xfrm>
            <a:off x="7671816" y="1179576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Yellow pin dot"/>
          <p:cNvSpPr/>
          <p:nvPr/>
        </p:nvSpPr>
        <p:spPr>
          <a:xfrm>
            <a:off x="7790688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Yellow chip"/>
          <p:cNvSpPr/>
          <p:nvPr/>
        </p:nvSpPr>
        <p:spPr>
          <a:xfrm>
            <a:off x="7269480" y="1627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Yellow chip text"/>
          <p:cNvSpPr txBox="1"/>
          <p:nvPr/>
        </p:nvSpPr>
        <p:spPr>
          <a:xfrm>
            <a:off x="726948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2.1 km  Yellow</a:t>
            </a:r>
            <a:endParaRPr lang="en-US" sz="1100" dirty="0"/>
          </a:p>
        </p:txBody>
      </p:sp>
      <p:sp>
        <p:nvSpPr>
          <p:cNvPr id="30" name="Red pin"/>
          <p:cNvSpPr/>
          <p:nvPr/>
        </p:nvSpPr>
        <p:spPr>
          <a:xfrm>
            <a:off x="7397496" y="3465576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Red pin dot"/>
          <p:cNvSpPr/>
          <p:nvPr/>
        </p:nvSpPr>
        <p:spPr>
          <a:xfrm>
            <a:off x="7516368" y="3584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Red chip"/>
          <p:cNvSpPr/>
          <p:nvPr/>
        </p:nvSpPr>
        <p:spPr>
          <a:xfrm>
            <a:off x="6995160" y="3913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Red chip text"/>
          <p:cNvSpPr txBox="1"/>
          <p:nvPr/>
        </p:nvSpPr>
        <p:spPr>
          <a:xfrm>
            <a:off x="699516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3.4 km  Red</a:t>
            </a:r>
            <a:endParaRPr lang="en-US" sz="1100" dirty="0"/>
          </a:p>
        </p:txBody>
      </p:sp>
      <p:sp>
        <p:nvSpPr>
          <p:cNvPr id="34" name="Driver label"/>
          <p:cNvSpPr txBox="1"/>
          <p:nvPr/>
        </p:nvSpPr>
        <p:spPr>
          <a:xfrm>
            <a:off x="6035040" y="3154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Driver at 12% battery</a:t>
            </a:r>
            <a:endParaRPr lang="en-US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294968" y="2064734"/>
            <a:ext cx="303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>
                <a:solidFill>
                  <a:schemeClr val="tx2">
                    <a:lumMod val="25000"/>
                    <a:lumOff val="75000"/>
                  </a:schemeClr>
                </a:solidFill>
              </a:rPr>
              <a:t>TEAM NAME: </a:t>
            </a:r>
            <a:r>
              <a:rPr lang="en-IN" sz="24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MARCUS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4968" y="2546064"/>
            <a:ext cx="31358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75000"/>
                  </a:schemeClr>
                </a:solidFill>
              </a:rPr>
              <a:t>TEAM MEMBERS</a:t>
            </a:r>
            <a:endParaRPr lang="en-IN" dirty="0" smtClean="0"/>
          </a:p>
          <a:p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</a:rPr>
              <a:t>Sathyam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</a:rPr>
              <a:t>sharma.L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(Team Head)</a:t>
            </a:r>
          </a:p>
          <a:p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</a:rPr>
              <a:t>Tharaneshwar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S.S</a:t>
            </a:r>
          </a:p>
          <a:p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</a:rPr>
              <a:t>Nighil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</a:rPr>
              <a:t>Adhithya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 R</a:t>
            </a:r>
          </a:p>
          <a:p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</a:rPr>
              <a:t>Mukesh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</a:rPr>
              <a:t> A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pill"/>
          <p:cNvSpPr/>
          <p:nvPr/>
        </p:nvSpPr>
        <p:spPr>
          <a:xfrm>
            <a:off x="457200" y="18288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Project pill text"/>
          <p:cNvSpPr txBox="1"/>
          <p:nvPr/>
        </p:nvSpPr>
        <p:spPr>
          <a:xfrm>
            <a:off x="457200" y="182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ChargeShare</a:t>
            </a:r>
            <a:endParaRPr lang="en-US" sz="1200" dirty="0"/>
          </a:p>
        </p:txBody>
      </p:sp>
      <p:sp>
        <p:nvSpPr>
          <p:cNvPr id="5" name="Event bolt circle"/>
          <p:cNvSpPr/>
          <p:nvPr/>
        </p:nvSpPr>
        <p:spPr>
          <a:xfrm>
            <a:off x="8321040" y="1828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Event bolt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873" y="263713"/>
            <a:ext cx="149230" cy="149230"/>
          </a:xfrm>
          <a:prstGeom prst="rect">
            <a:avLst/>
          </a:prstGeom>
        </p:spPr>
      </p:pic>
      <p:sp>
        <p:nvSpPr>
          <p:cNvPr id="7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and Proposed Solution</a:t>
            </a:r>
            <a:endParaRPr lang="en-US" sz="3000" dirty="0"/>
          </a:p>
        </p:txBody>
      </p:sp>
      <p:sp>
        <p:nvSpPr>
          <p:cNvPr id="8" name="Problem card"/>
          <p:cNvSpPr/>
          <p:nvPr/>
        </p:nvSpPr>
        <p:spPr>
          <a:xfrm>
            <a:off x="457200" y="128016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9" name="Problem circle"/>
          <p:cNvSpPr/>
          <p:nvPr/>
        </p:nvSpPr>
        <p:spPr>
          <a:xfrm>
            <a:off x="640080" y="1389888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Problem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23" y="1480231"/>
            <a:ext cx="166787" cy="166787"/>
          </a:xfrm>
          <a:prstGeom prst="rect">
            <a:avLst/>
          </a:prstGeom>
        </p:spPr>
      </p:pic>
      <p:sp>
        <p:nvSpPr>
          <p:cNvPr id="11" name="Problem heading"/>
          <p:cNvSpPr txBox="1"/>
          <p:nvPr/>
        </p:nvSpPr>
        <p:spPr>
          <a:xfrm>
            <a:off x="1097280" y="1389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2" name="Problem bullets"/>
          <p:cNvSpPr txBox="1"/>
          <p:nvPr/>
        </p:nvSpPr>
        <p:spPr>
          <a:xfrm>
            <a:off x="640080" y="18288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Low-battery emergencies on long trips, when public chargers are far or full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Private chargers sit idle, with no way to discover or trust them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compatibility check, safe booking or payment between strangers</a:t>
            </a:r>
            <a:endParaRPr lang="en-US" sz="1400" dirty="0"/>
          </a:p>
        </p:txBody>
      </p:sp>
      <p:sp>
        <p:nvSpPr>
          <p:cNvPr id="13" name="Serve heading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WE SERVE</a:t>
            </a:r>
            <a:endParaRPr lang="en-US" sz="1400" dirty="0"/>
          </a:p>
        </p:txBody>
      </p:sp>
      <p:sp>
        <p:nvSpPr>
          <p:cNvPr id="14" name="Serve 1 circle"/>
          <p:cNvSpPr/>
          <p:nvPr/>
        </p:nvSpPr>
        <p:spPr>
          <a:xfrm>
            <a:off x="822960" y="3675888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Serve 1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3818534"/>
            <a:ext cx="263347" cy="263347"/>
          </a:xfrm>
          <a:prstGeom prst="rect">
            <a:avLst/>
          </a:prstGeom>
        </p:spPr>
      </p:pic>
      <p:sp>
        <p:nvSpPr>
          <p:cNvPr id="16" name="Serve label 1"/>
          <p:cNvSpPr txBox="1"/>
          <p:nvPr/>
        </p:nvSpPr>
        <p:spPr>
          <a:xfrm>
            <a:off x="457200" y="4270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Stranded EV drivers</a:t>
            </a:r>
            <a:endParaRPr lang="en-US" sz="1200" dirty="0"/>
          </a:p>
        </p:txBody>
      </p:sp>
      <p:sp>
        <p:nvSpPr>
          <p:cNvPr id="17" name="Serve 2 circle"/>
          <p:cNvSpPr/>
          <p:nvPr/>
        </p:nvSpPr>
        <p:spPr>
          <a:xfrm>
            <a:off x="2148840" y="36758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Serve 2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1486" y="3818534"/>
            <a:ext cx="263347" cy="263347"/>
          </a:xfrm>
          <a:prstGeom prst="rect">
            <a:avLst/>
          </a:prstGeom>
        </p:spPr>
      </p:pic>
      <p:sp>
        <p:nvSpPr>
          <p:cNvPr id="19" name="Serve label 2"/>
          <p:cNvSpPr txBox="1"/>
          <p:nvPr/>
        </p:nvSpPr>
        <p:spPr>
          <a:xfrm>
            <a:off x="1783080" y="4270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Charger hosts</a:t>
            </a:r>
            <a:endParaRPr lang="en-US" sz="1200" dirty="0"/>
          </a:p>
        </p:txBody>
      </p:sp>
      <p:sp>
        <p:nvSpPr>
          <p:cNvPr id="20" name="Serve 3 circle"/>
          <p:cNvSpPr/>
          <p:nvPr/>
        </p:nvSpPr>
        <p:spPr>
          <a:xfrm>
            <a:off x="3474720" y="367588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Serve 3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7366" y="3818534"/>
            <a:ext cx="263347" cy="263347"/>
          </a:xfrm>
          <a:prstGeom prst="rect">
            <a:avLst/>
          </a:prstGeom>
        </p:spPr>
      </p:pic>
      <p:sp>
        <p:nvSpPr>
          <p:cNvPr id="22" name="Serve label 3"/>
          <p:cNvSpPr txBox="1"/>
          <p:nvPr/>
        </p:nvSpPr>
        <p:spPr>
          <a:xfrm>
            <a:off x="3108960" y="4270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Cities and operators</a:t>
            </a:r>
            <a:endParaRPr lang="en-US" sz="1200" dirty="0"/>
          </a:p>
        </p:txBody>
      </p:sp>
      <p:sp>
        <p:nvSpPr>
          <p:cNvPr id="23" name="Solution card"/>
          <p:cNvSpPr/>
          <p:nvPr/>
        </p:nvSpPr>
        <p:spPr>
          <a:xfrm>
            <a:off x="4572000" y="128016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24" name="Solution circle"/>
          <p:cNvSpPr/>
          <p:nvPr/>
        </p:nvSpPr>
        <p:spPr>
          <a:xfrm>
            <a:off x="4754880" y="13898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olutio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223" y="1480231"/>
            <a:ext cx="166787" cy="166787"/>
          </a:xfrm>
          <a:prstGeom prst="rect">
            <a:avLst/>
          </a:prstGeom>
        </p:spPr>
      </p:pic>
      <p:sp>
        <p:nvSpPr>
          <p:cNvPr id="26" name="Solution heading"/>
          <p:cNvSpPr txBox="1"/>
          <p:nvPr/>
        </p:nvSpPr>
        <p:spPr>
          <a:xfrm>
            <a:off x="521208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27" name="Solution item 1 circle"/>
          <p:cNvSpPr/>
          <p:nvPr/>
        </p:nvSpPr>
        <p:spPr>
          <a:xfrm>
            <a:off x="4754880" y="19110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Solution item 1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0468" y="1996684"/>
            <a:ext cx="158008" cy="158008"/>
          </a:xfrm>
          <a:prstGeom prst="rect">
            <a:avLst/>
          </a:prstGeom>
        </p:spPr>
      </p:pic>
      <p:sp>
        <p:nvSpPr>
          <p:cNvPr id="29" name="Solution text 1"/>
          <p:cNvSpPr txBox="1"/>
          <p:nvPr/>
        </p:nvSpPr>
        <p:spPr>
          <a:xfrm>
            <a:off x="5212080" y="18745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Compatibility tiers</a:t>
            </a:r>
            <a:r>
              <a:rPr lang="en-US" sz="1400" dirty="0">
                <a:solidFill>
                  <a:schemeClr val="tx1"/>
                </a:solidFill>
              </a:rPr>
              <a:t>: green, yellow, red</a:t>
            </a:r>
            <a:endParaRPr lang="en-US" sz="1400" dirty="0"/>
          </a:p>
        </p:txBody>
      </p:sp>
      <p:sp>
        <p:nvSpPr>
          <p:cNvPr id="30" name="Solution item 2 circle"/>
          <p:cNvSpPr/>
          <p:nvPr/>
        </p:nvSpPr>
        <p:spPr>
          <a:xfrm>
            <a:off x="4754880" y="23682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Solution item 2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0468" y="2453884"/>
            <a:ext cx="158008" cy="158008"/>
          </a:xfrm>
          <a:prstGeom prst="rect">
            <a:avLst/>
          </a:prstGeom>
        </p:spPr>
      </p:pic>
      <p:sp>
        <p:nvSpPr>
          <p:cNvPr id="32" name="Solution text 2"/>
          <p:cNvSpPr txBox="1"/>
          <p:nvPr/>
        </p:nvSpPr>
        <p:spPr>
          <a:xfrm>
            <a:off x="5212080" y="23317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Nearby discovery</a:t>
            </a:r>
            <a:r>
              <a:rPr lang="en-US" sz="1400" dirty="0">
                <a:solidFill>
                  <a:schemeClr val="tx1"/>
                </a:solidFill>
              </a:rPr>
              <a:t>: with distance and ETA</a:t>
            </a:r>
            <a:endParaRPr lang="en-US" sz="1400" dirty="0"/>
          </a:p>
        </p:txBody>
      </p:sp>
      <p:sp>
        <p:nvSpPr>
          <p:cNvPr id="33" name="Solution item 3 circle"/>
          <p:cNvSpPr/>
          <p:nvPr/>
        </p:nvSpPr>
        <p:spPr>
          <a:xfrm>
            <a:off x="4754880" y="28254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Solution item 3 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0468" y="2911084"/>
            <a:ext cx="158008" cy="158008"/>
          </a:xfrm>
          <a:prstGeom prst="rect">
            <a:avLst/>
          </a:prstGeom>
        </p:spPr>
      </p:pic>
      <p:sp>
        <p:nvSpPr>
          <p:cNvPr id="35" name="Solution text 3"/>
          <p:cNvSpPr txBox="1"/>
          <p:nvPr/>
        </p:nvSpPr>
        <p:spPr>
          <a:xfrm>
            <a:off x="5212080" y="27889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Real-time slots</a:t>
            </a:r>
            <a:r>
              <a:rPr lang="en-US" sz="1400" dirty="0">
                <a:solidFill>
                  <a:schemeClr val="tx1"/>
                </a:solidFill>
              </a:rPr>
              <a:t>: set by each host</a:t>
            </a:r>
            <a:endParaRPr lang="en-US" sz="1400" dirty="0"/>
          </a:p>
        </p:txBody>
      </p:sp>
      <p:sp>
        <p:nvSpPr>
          <p:cNvPr id="36" name="Solution item 4 circle"/>
          <p:cNvSpPr/>
          <p:nvPr/>
        </p:nvSpPr>
        <p:spPr>
          <a:xfrm>
            <a:off x="4754880" y="32826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Solution item 4 icon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0468" y="3368284"/>
            <a:ext cx="158008" cy="158008"/>
          </a:xfrm>
          <a:prstGeom prst="rect">
            <a:avLst/>
          </a:prstGeom>
        </p:spPr>
      </p:pic>
      <p:sp>
        <p:nvSpPr>
          <p:cNvPr id="38" name="Solution text 4"/>
          <p:cNvSpPr txBox="1"/>
          <p:nvPr/>
        </p:nvSpPr>
        <p:spPr>
          <a:xfrm>
            <a:off x="5212080" y="32461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Instant booking</a:t>
            </a:r>
            <a:r>
              <a:rPr lang="en-US" sz="1400" dirty="0">
                <a:solidFill>
                  <a:schemeClr val="tx1"/>
                </a:solidFill>
              </a:rPr>
              <a:t>: in two taps</a:t>
            </a:r>
            <a:endParaRPr lang="en-US" sz="1400" dirty="0"/>
          </a:p>
        </p:txBody>
      </p:sp>
      <p:sp>
        <p:nvSpPr>
          <p:cNvPr id="39" name="Solution item 5 circle"/>
          <p:cNvSpPr/>
          <p:nvPr/>
        </p:nvSpPr>
        <p:spPr>
          <a:xfrm>
            <a:off x="4754880" y="37398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Solution item 5 icon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0468" y="3825484"/>
            <a:ext cx="158008" cy="158008"/>
          </a:xfrm>
          <a:prstGeom prst="rect">
            <a:avLst/>
          </a:prstGeom>
        </p:spPr>
      </p:pic>
      <p:sp>
        <p:nvSpPr>
          <p:cNvPr id="41" name="Solution text 5"/>
          <p:cNvSpPr txBox="1"/>
          <p:nvPr/>
        </p:nvSpPr>
        <p:spPr>
          <a:xfrm>
            <a:off x="5212080" y="3703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Secure payment</a:t>
            </a:r>
            <a:r>
              <a:rPr lang="en-US" sz="1400" dirty="0">
                <a:solidFill>
                  <a:schemeClr val="tx1"/>
                </a:solidFill>
              </a:rPr>
              <a:t>: with transparent fee split</a:t>
            </a:r>
            <a:endParaRPr lang="en-US" sz="1400" dirty="0"/>
          </a:p>
        </p:txBody>
      </p:sp>
      <p:sp>
        <p:nvSpPr>
          <p:cNvPr id="42" name="Solution item 6 circle"/>
          <p:cNvSpPr/>
          <p:nvPr/>
        </p:nvSpPr>
        <p:spPr>
          <a:xfrm>
            <a:off x="4754880" y="41970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3" name="Solution item 6 icon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0468" y="4282684"/>
            <a:ext cx="158008" cy="158008"/>
          </a:xfrm>
          <a:prstGeom prst="rect">
            <a:avLst/>
          </a:prstGeom>
        </p:spPr>
      </p:pic>
      <p:sp>
        <p:nvSpPr>
          <p:cNvPr id="44" name="Solution text 6"/>
          <p:cNvSpPr txBox="1"/>
          <p:nvPr/>
        </p:nvSpPr>
        <p:spPr>
          <a:xfrm>
            <a:off x="5212080" y="41605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Trust and safety</a:t>
            </a:r>
            <a:r>
              <a:rPr lang="en-US" sz="1400" dirty="0">
                <a:solidFill>
                  <a:schemeClr val="tx1"/>
                </a:solidFill>
              </a:rPr>
              <a:t>: verified hosts, ratings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pill"/>
          <p:cNvSpPr/>
          <p:nvPr/>
        </p:nvSpPr>
        <p:spPr>
          <a:xfrm>
            <a:off x="457200" y="18288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Project pill text"/>
          <p:cNvSpPr txBox="1"/>
          <p:nvPr/>
        </p:nvSpPr>
        <p:spPr>
          <a:xfrm>
            <a:off x="457200" y="182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ChargeShare</a:t>
            </a:r>
            <a:endParaRPr lang="en-US" sz="1200" dirty="0"/>
          </a:p>
        </p:txBody>
      </p:sp>
      <p:sp>
        <p:nvSpPr>
          <p:cNvPr id="5" name="Event bolt circle"/>
          <p:cNvSpPr/>
          <p:nvPr/>
        </p:nvSpPr>
        <p:spPr>
          <a:xfrm>
            <a:off x="8321040" y="1828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Event bolt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873" y="263713"/>
            <a:ext cx="149230" cy="149230"/>
          </a:xfrm>
          <a:prstGeom prst="rect">
            <a:avLst/>
          </a:prstGeom>
        </p:spPr>
      </p:pic>
      <p:sp>
        <p:nvSpPr>
          <p:cNvPr id="7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Technical Approach</a:t>
            </a:r>
            <a:endParaRPr lang="en-US" sz="3000" dirty="0"/>
          </a:p>
        </p:txBody>
      </p:sp>
      <p:sp>
        <p:nvSpPr>
          <p:cNvPr id="8" name="Stack card"/>
          <p:cNvSpPr/>
          <p:nvPr/>
        </p:nvSpPr>
        <p:spPr>
          <a:xfrm>
            <a:off x="457200" y="128016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9" name="Stack heading"/>
          <p:cNvSpPr txBox="1"/>
          <p:nvPr/>
        </p:nvSpPr>
        <p:spPr>
          <a:xfrm>
            <a:off x="59436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Technologies used</a:t>
            </a:r>
            <a:endParaRPr lang="en-US" sz="1400" dirty="0"/>
          </a:p>
        </p:txBody>
      </p:sp>
      <p:sp>
        <p:nvSpPr>
          <p:cNvPr id="10" name="Stack 1 circle"/>
          <p:cNvSpPr/>
          <p:nvPr/>
        </p:nvSpPr>
        <p:spPr>
          <a:xfrm>
            <a:off x="594360" y="16916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ack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" y="1762963"/>
            <a:ext cx="131674" cy="131674"/>
          </a:xfrm>
          <a:prstGeom prst="rect">
            <a:avLst/>
          </a:prstGeom>
        </p:spPr>
      </p:pic>
      <p:sp>
        <p:nvSpPr>
          <p:cNvPr id="12" name="Stack text 1"/>
          <p:cNvSpPr txBox="1"/>
          <p:nvPr/>
        </p:nvSpPr>
        <p:spPr>
          <a:xfrm>
            <a:off x="9601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React web and mobile UI</a:t>
            </a:r>
            <a:endParaRPr lang="en-US" sz="1200" dirty="0"/>
          </a:p>
        </p:txBody>
      </p:sp>
      <p:sp>
        <p:nvSpPr>
          <p:cNvPr id="13" name="Stack 2 circle"/>
          <p:cNvSpPr/>
          <p:nvPr/>
        </p:nvSpPr>
        <p:spPr>
          <a:xfrm>
            <a:off x="594360" y="205740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tack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" y="2128723"/>
            <a:ext cx="131674" cy="131674"/>
          </a:xfrm>
          <a:prstGeom prst="rect">
            <a:avLst/>
          </a:prstGeom>
        </p:spPr>
      </p:pic>
      <p:sp>
        <p:nvSpPr>
          <p:cNvPr id="15" name="Stack text 2"/>
          <p:cNvSpPr txBox="1"/>
          <p:nvPr/>
        </p:nvSpPr>
        <p:spPr>
          <a:xfrm>
            <a:off x="9601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Node.js REST API</a:t>
            </a:r>
            <a:endParaRPr lang="en-US" sz="1200" dirty="0"/>
          </a:p>
        </p:txBody>
      </p:sp>
      <p:sp>
        <p:nvSpPr>
          <p:cNvPr id="16" name="Stack 3 circle"/>
          <p:cNvSpPr/>
          <p:nvPr/>
        </p:nvSpPr>
        <p:spPr>
          <a:xfrm>
            <a:off x="594360" y="2423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ack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" y="2494483"/>
            <a:ext cx="131674" cy="131674"/>
          </a:xfrm>
          <a:prstGeom prst="rect">
            <a:avLst/>
          </a:prstGeom>
        </p:spPr>
      </p:pic>
      <p:sp>
        <p:nvSpPr>
          <p:cNvPr id="18" name="Stack text 3"/>
          <p:cNvSpPr txBox="1"/>
          <p:nvPr/>
        </p:nvSpPr>
        <p:spPr>
          <a:xfrm>
            <a:off x="96012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Geo-indexed database</a:t>
            </a:r>
            <a:endParaRPr lang="en-US" sz="1200" dirty="0"/>
          </a:p>
        </p:txBody>
      </p:sp>
      <p:sp>
        <p:nvSpPr>
          <p:cNvPr id="19" name="Stack 4 circle"/>
          <p:cNvSpPr/>
          <p:nvPr/>
        </p:nvSpPr>
        <p:spPr>
          <a:xfrm>
            <a:off x="594360" y="2788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tack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" y="2860243"/>
            <a:ext cx="131674" cy="131674"/>
          </a:xfrm>
          <a:prstGeom prst="rect">
            <a:avLst/>
          </a:prstGeom>
        </p:spPr>
      </p:pic>
      <p:sp>
        <p:nvSpPr>
          <p:cNvPr id="21" name="Stack text 4"/>
          <p:cNvSpPr txBox="1"/>
          <p:nvPr/>
        </p:nvSpPr>
        <p:spPr>
          <a:xfrm>
            <a:off x="96012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Maps and routing API</a:t>
            </a:r>
            <a:endParaRPr lang="en-US" sz="1200" dirty="0"/>
          </a:p>
        </p:txBody>
      </p:sp>
      <p:sp>
        <p:nvSpPr>
          <p:cNvPr id="22" name="Stack 5 circle"/>
          <p:cNvSpPr/>
          <p:nvPr/>
        </p:nvSpPr>
        <p:spPr>
          <a:xfrm>
            <a:off x="594360" y="31546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tack 5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" y="3226003"/>
            <a:ext cx="131674" cy="131674"/>
          </a:xfrm>
          <a:prstGeom prst="rect">
            <a:avLst/>
          </a:prstGeom>
        </p:spPr>
      </p:pic>
      <p:sp>
        <p:nvSpPr>
          <p:cNvPr id="24" name="Stack text 5"/>
          <p:cNvSpPr txBox="1"/>
          <p:nvPr/>
        </p:nvSpPr>
        <p:spPr>
          <a:xfrm>
            <a:off x="96012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Simulated payment gateway</a:t>
            </a:r>
            <a:endParaRPr lang="en-US" sz="1200" dirty="0"/>
          </a:p>
        </p:txBody>
      </p:sp>
      <p:sp>
        <p:nvSpPr>
          <p:cNvPr id="25" name="Tier card"/>
          <p:cNvSpPr/>
          <p:nvPr/>
        </p:nvSpPr>
        <p:spPr>
          <a:xfrm>
            <a:off x="457200" y="3657600"/>
            <a:ext cx="251460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ier heading"/>
          <p:cNvSpPr txBox="1"/>
          <p:nvPr/>
        </p:nvSpPr>
        <p:spPr>
          <a:xfrm>
            <a:off x="594360" y="3712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Matching logic</a:t>
            </a:r>
            <a:endParaRPr lang="en-US" sz="1400" dirty="0"/>
          </a:p>
        </p:txBody>
      </p:sp>
      <p:sp>
        <p:nvSpPr>
          <p:cNvPr id="27" name="Tier dot 1"/>
          <p:cNvSpPr/>
          <p:nvPr/>
        </p:nvSpPr>
        <p:spPr>
          <a:xfrm>
            <a:off x="594360" y="4059936"/>
            <a:ext cx="128016" cy="128016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28" name="Tier text 1"/>
          <p:cNvSpPr txBox="1"/>
          <p:nvPr/>
        </p:nvSpPr>
        <p:spPr>
          <a:xfrm>
            <a:off x="822960" y="4023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Green: fully compatible</a:t>
            </a:r>
            <a:endParaRPr lang="en-US" sz="1200" dirty="0"/>
          </a:p>
        </p:txBody>
      </p:sp>
      <p:sp>
        <p:nvSpPr>
          <p:cNvPr id="29" name="Tier dot 2"/>
          <p:cNvSpPr/>
          <p:nvPr/>
        </p:nvSpPr>
        <p:spPr>
          <a:xfrm>
            <a:off x="594360" y="4261104"/>
            <a:ext cx="128016" cy="128016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Tier text 2"/>
          <p:cNvSpPr txBox="1"/>
          <p:nvPr/>
        </p:nvSpPr>
        <p:spPr>
          <a:xfrm>
            <a:off x="822960" y="42245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Yellow: slight match</a:t>
            </a:r>
            <a:endParaRPr lang="en-US" sz="1200" dirty="0"/>
          </a:p>
        </p:txBody>
      </p:sp>
      <p:sp>
        <p:nvSpPr>
          <p:cNvPr id="31" name="Tier dot 3"/>
          <p:cNvSpPr/>
          <p:nvPr/>
        </p:nvSpPr>
        <p:spPr>
          <a:xfrm>
            <a:off x="594360" y="4462272"/>
            <a:ext cx="128016" cy="12801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2" name="Tier text 3"/>
          <p:cNvSpPr txBox="1"/>
          <p:nvPr/>
        </p:nvSpPr>
        <p:spPr>
          <a:xfrm>
            <a:off x="822960" y="4425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Red: different charger</a:t>
            </a:r>
            <a:endParaRPr lang="en-US" sz="1200" dirty="0"/>
          </a:p>
        </p:txBody>
      </p:sp>
      <p:sp>
        <p:nvSpPr>
          <p:cNvPr id="33" name="Phone map frame"/>
          <p:cNvSpPr/>
          <p:nvPr/>
        </p:nvSpPr>
        <p:spPr>
          <a:xfrm>
            <a:off x="3200400" y="1280160"/>
            <a:ext cx="1737360" cy="306324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Phone map screen"/>
          <p:cNvSpPr/>
          <p:nvPr/>
        </p:nvSpPr>
        <p:spPr>
          <a:xfrm>
            <a:off x="3264408" y="1344168"/>
            <a:ext cx="1609344" cy="2935224"/>
          </a:xfrm>
          <a:prstGeom prst="roundRect">
            <a:avLst>
              <a:gd name="adj" fmla="val 8523"/>
            </a:avLst>
          </a:prstGeom>
          <a:solidFill>
            <a:srgbClr val="DDEF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hone map notch"/>
          <p:cNvSpPr/>
          <p:nvPr/>
        </p:nvSpPr>
        <p:spPr>
          <a:xfrm>
            <a:off x="3840480" y="1389888"/>
            <a:ext cx="457200" cy="7315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Map park"/>
          <p:cNvSpPr/>
          <p:nvPr/>
        </p:nvSpPr>
        <p:spPr>
          <a:xfrm>
            <a:off x="3355848" y="3081528"/>
            <a:ext cx="822960" cy="411480"/>
          </a:xfrm>
          <a:prstGeom prst="ellipse">
            <a:avLst/>
          </a:prstGeom>
          <a:solidFill>
            <a:srgbClr val="C4E5D3"/>
          </a:solidFill>
          <a:ln w="12700">
            <a:solidFill>
              <a:srgbClr val="C4E5D3"/>
            </a:solidFill>
            <a:prstDash val="solid"/>
          </a:ln>
        </p:spPr>
      </p:sp>
      <p:sp>
        <p:nvSpPr>
          <p:cNvPr id="37" name="Map road 1"/>
          <p:cNvSpPr/>
          <p:nvPr/>
        </p:nvSpPr>
        <p:spPr>
          <a:xfrm rot="600000">
            <a:off x="3310128" y="2487168"/>
            <a:ext cx="151790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Map road 2"/>
          <p:cNvSpPr/>
          <p:nvPr/>
        </p:nvSpPr>
        <p:spPr>
          <a:xfrm rot="-720000">
            <a:off x="3310128" y="3127248"/>
            <a:ext cx="1517904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Map road 3"/>
          <p:cNvSpPr/>
          <p:nvPr/>
        </p:nvSpPr>
        <p:spPr>
          <a:xfrm rot="480000">
            <a:off x="4041648" y="1984248"/>
            <a:ext cx="640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Map search"/>
          <p:cNvSpPr/>
          <p:nvPr/>
        </p:nvSpPr>
        <p:spPr>
          <a:xfrm>
            <a:off x="3355848" y="1572768"/>
            <a:ext cx="14264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FE3DC"/>
            </a:solidFill>
            <a:prstDash val="solid"/>
          </a:ln>
        </p:spPr>
      </p:sp>
      <p:sp>
        <p:nvSpPr>
          <p:cNvPr id="41" name="Map search text"/>
          <p:cNvSpPr txBox="1"/>
          <p:nvPr/>
        </p:nvSpPr>
        <p:spPr>
          <a:xfrm>
            <a:off x="3465576" y="15727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12%  |  CCS2</a:t>
            </a:r>
            <a:endParaRPr lang="en-US" sz="900" dirty="0"/>
          </a:p>
        </p:txBody>
      </p:sp>
      <p:sp>
        <p:nvSpPr>
          <p:cNvPr id="42" name="Map pin 1"/>
          <p:cNvSpPr/>
          <p:nvPr/>
        </p:nvSpPr>
        <p:spPr>
          <a:xfrm>
            <a:off x="3584448" y="2212848"/>
            <a:ext cx="237744" cy="237744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43" name="Map pin dot 1"/>
          <p:cNvSpPr/>
          <p:nvPr/>
        </p:nvSpPr>
        <p:spPr>
          <a:xfrm>
            <a:off x="3662172" y="229057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Map pin 2"/>
          <p:cNvSpPr/>
          <p:nvPr/>
        </p:nvSpPr>
        <p:spPr>
          <a:xfrm>
            <a:off x="4270248" y="2898648"/>
            <a:ext cx="237744" cy="237744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5" name="Map pin dot 2"/>
          <p:cNvSpPr/>
          <p:nvPr/>
        </p:nvSpPr>
        <p:spPr>
          <a:xfrm>
            <a:off x="4347972" y="297637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Map pin 3"/>
          <p:cNvSpPr/>
          <p:nvPr/>
        </p:nvSpPr>
        <p:spPr>
          <a:xfrm>
            <a:off x="3538728" y="2715768"/>
            <a:ext cx="237744" cy="23774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7" name="Map pin dot 3"/>
          <p:cNvSpPr/>
          <p:nvPr/>
        </p:nvSpPr>
        <p:spPr>
          <a:xfrm>
            <a:off x="3616452" y="279349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Map pin 4"/>
          <p:cNvSpPr/>
          <p:nvPr/>
        </p:nvSpPr>
        <p:spPr>
          <a:xfrm>
            <a:off x="4315968" y="2121408"/>
            <a:ext cx="237744" cy="237744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49" name="Map pin dot 4"/>
          <p:cNvSpPr/>
          <p:nvPr/>
        </p:nvSpPr>
        <p:spPr>
          <a:xfrm>
            <a:off x="4393692" y="219913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You ring"/>
          <p:cNvSpPr/>
          <p:nvPr/>
        </p:nvSpPr>
        <p:spPr>
          <a:xfrm>
            <a:off x="3831336" y="2578608"/>
            <a:ext cx="365760" cy="3657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You dot"/>
          <p:cNvSpPr/>
          <p:nvPr/>
        </p:nvSpPr>
        <p:spPr>
          <a:xfrm>
            <a:off x="3941064" y="2688336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Map card"/>
          <p:cNvSpPr/>
          <p:nvPr/>
        </p:nvSpPr>
        <p:spPr>
          <a:xfrm>
            <a:off x="3337560" y="3474720"/>
            <a:ext cx="14630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CFE3DC"/>
            </a:solidFill>
            <a:prstDash val="solid"/>
          </a:ln>
        </p:spPr>
      </p:sp>
      <p:sp>
        <p:nvSpPr>
          <p:cNvPr id="53" name="Map card dot"/>
          <p:cNvSpPr/>
          <p:nvPr/>
        </p:nvSpPr>
        <p:spPr>
          <a:xfrm>
            <a:off x="3429000" y="3566160"/>
            <a:ext cx="164592" cy="164592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54" name="Map card title"/>
          <p:cNvSpPr txBox="1"/>
          <p:nvPr/>
        </p:nvSpPr>
        <p:spPr>
          <a:xfrm>
            <a:off x="3648456" y="354787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charger  |  CCS2</a:t>
            </a:r>
            <a:endParaRPr lang="en-US" sz="900" dirty="0"/>
          </a:p>
        </p:txBody>
      </p:sp>
      <p:sp>
        <p:nvSpPr>
          <p:cNvPr id="55" name="Map card sub"/>
          <p:cNvSpPr txBox="1"/>
          <p:nvPr/>
        </p:nvSpPr>
        <p:spPr>
          <a:xfrm>
            <a:off x="3429000" y="37581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km  |  4 min  |  Rs 18/kWh</a:t>
            </a:r>
            <a:endParaRPr lang="en-US" sz="800" dirty="0"/>
          </a:p>
        </p:txBody>
      </p:sp>
      <p:sp>
        <p:nvSpPr>
          <p:cNvPr id="56" name="Map card badge"/>
          <p:cNvSpPr/>
          <p:nvPr/>
        </p:nvSpPr>
        <p:spPr>
          <a:xfrm>
            <a:off x="3429000" y="3959352"/>
            <a:ext cx="960120" cy="182880"/>
          </a:xfrm>
          <a:prstGeom prst="roundRect">
            <a:avLst>
              <a:gd name="adj" fmla="val 50000"/>
            </a:avLst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57" name="Map card badge text"/>
          <p:cNvSpPr txBox="1"/>
          <p:nvPr/>
        </p:nvSpPr>
        <p:spPr>
          <a:xfrm>
            <a:off x="3429000" y="39593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COMPATIBLE</a:t>
            </a:r>
            <a:endParaRPr lang="en-US" sz="700" dirty="0"/>
          </a:p>
        </p:txBody>
      </p:sp>
      <p:sp>
        <p:nvSpPr>
          <p:cNvPr id="58" name="Phone detail frame"/>
          <p:cNvSpPr/>
          <p:nvPr/>
        </p:nvSpPr>
        <p:spPr>
          <a:xfrm>
            <a:off x="5074920" y="1280160"/>
            <a:ext cx="1737360" cy="306324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Phone detail screen"/>
          <p:cNvSpPr/>
          <p:nvPr/>
        </p:nvSpPr>
        <p:spPr>
          <a:xfrm>
            <a:off x="5138928" y="1344168"/>
            <a:ext cx="1609344" cy="2935224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Phone detail notch"/>
          <p:cNvSpPr/>
          <p:nvPr/>
        </p:nvSpPr>
        <p:spPr>
          <a:xfrm>
            <a:off x="5715000" y="1389888"/>
            <a:ext cx="457200" cy="7315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1" name="Detail heading"/>
          <p:cNvSpPr txBox="1"/>
          <p:nvPr/>
        </p:nvSpPr>
        <p:spPr>
          <a:xfrm>
            <a:off x="5248656" y="159105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details</a:t>
            </a:r>
            <a:endParaRPr lang="en-US" sz="1100" dirty="0"/>
          </a:p>
        </p:txBody>
      </p:sp>
      <p:sp>
        <p:nvSpPr>
          <p:cNvPr id="62" name="Detail badge"/>
          <p:cNvSpPr/>
          <p:nvPr/>
        </p:nvSpPr>
        <p:spPr>
          <a:xfrm>
            <a:off x="5248656" y="1911096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63" name="Detail badge text"/>
          <p:cNvSpPr txBox="1"/>
          <p:nvPr/>
        </p:nvSpPr>
        <p:spPr>
          <a:xfrm>
            <a:off x="5248656" y="19110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|  Fully compatible</a:t>
            </a:r>
            <a:endParaRPr lang="en-US" sz="800" dirty="0"/>
          </a:p>
        </p:txBody>
      </p:sp>
      <p:sp>
        <p:nvSpPr>
          <p:cNvPr id="64" name="Detail host"/>
          <p:cNvSpPr txBox="1"/>
          <p:nvPr/>
        </p:nvSpPr>
        <p:spPr>
          <a:xfrm>
            <a:off x="5248656" y="22585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host  |  4.9 rating</a:t>
            </a:r>
            <a:endParaRPr lang="en-US" sz="800" dirty="0"/>
          </a:p>
        </p:txBody>
      </p:sp>
      <p:sp>
        <p:nvSpPr>
          <p:cNvPr id="65" name="Detail row 1"/>
          <p:cNvSpPr/>
          <p:nvPr/>
        </p:nvSpPr>
        <p:spPr>
          <a:xfrm>
            <a:off x="5248656" y="2532888"/>
            <a:ext cx="1389888" cy="228600"/>
          </a:xfrm>
          <a:prstGeom prst="roundRect">
            <a:avLst>
              <a:gd name="adj" fmla="val 24000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66" name="Detail label 1"/>
          <p:cNvSpPr txBox="1"/>
          <p:nvPr/>
        </p:nvSpPr>
        <p:spPr>
          <a:xfrm>
            <a:off x="5321808" y="25328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800" dirty="0"/>
          </a:p>
        </p:txBody>
      </p:sp>
      <p:sp>
        <p:nvSpPr>
          <p:cNvPr id="67" name="Detail value 1"/>
          <p:cNvSpPr txBox="1"/>
          <p:nvPr/>
        </p:nvSpPr>
        <p:spPr>
          <a:xfrm>
            <a:off x="5916168" y="2532888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CCS2  OK</a:t>
            </a:r>
            <a:endParaRPr lang="en-US" sz="800" dirty="0"/>
          </a:p>
        </p:txBody>
      </p:sp>
      <p:sp>
        <p:nvSpPr>
          <p:cNvPr id="68" name="Detail row 2"/>
          <p:cNvSpPr/>
          <p:nvPr/>
        </p:nvSpPr>
        <p:spPr>
          <a:xfrm>
            <a:off x="5248656" y="2807208"/>
            <a:ext cx="1389888" cy="228600"/>
          </a:xfrm>
          <a:prstGeom prst="roundRect">
            <a:avLst>
              <a:gd name="adj" fmla="val 24000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69" name="Detail label 2"/>
          <p:cNvSpPr txBox="1"/>
          <p:nvPr/>
        </p:nvSpPr>
        <p:spPr>
          <a:xfrm>
            <a:off x="5321808" y="28072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70" name="Detail value 2"/>
          <p:cNvSpPr txBox="1"/>
          <p:nvPr/>
        </p:nvSpPr>
        <p:spPr>
          <a:xfrm>
            <a:off x="5916168" y="2807208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kW</a:t>
            </a:r>
            <a:endParaRPr lang="en-US" sz="800" dirty="0"/>
          </a:p>
        </p:txBody>
      </p:sp>
      <p:sp>
        <p:nvSpPr>
          <p:cNvPr id="71" name="Detail row 3"/>
          <p:cNvSpPr/>
          <p:nvPr/>
        </p:nvSpPr>
        <p:spPr>
          <a:xfrm>
            <a:off x="5248656" y="3081528"/>
            <a:ext cx="1389888" cy="228600"/>
          </a:xfrm>
          <a:prstGeom prst="roundRect">
            <a:avLst>
              <a:gd name="adj" fmla="val 24000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72" name="Detail label 3"/>
          <p:cNvSpPr txBox="1"/>
          <p:nvPr/>
        </p:nvSpPr>
        <p:spPr>
          <a:xfrm>
            <a:off x="5321808" y="3081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73" name="Detail value 3"/>
          <p:cNvSpPr txBox="1"/>
          <p:nvPr/>
        </p:nvSpPr>
        <p:spPr>
          <a:xfrm>
            <a:off x="5916168" y="3081528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18/kWh</a:t>
            </a:r>
            <a:endParaRPr lang="en-US" sz="800" dirty="0"/>
          </a:p>
        </p:txBody>
      </p:sp>
      <p:sp>
        <p:nvSpPr>
          <p:cNvPr id="74" name="Slot label"/>
          <p:cNvSpPr txBox="1"/>
          <p:nvPr/>
        </p:nvSpPr>
        <p:spPr>
          <a:xfrm>
            <a:off x="5248656" y="3355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slot</a:t>
            </a:r>
            <a:endParaRPr lang="en-US" sz="800" dirty="0"/>
          </a:p>
        </p:txBody>
      </p:sp>
      <p:sp>
        <p:nvSpPr>
          <p:cNvPr id="75" name="Slot chip 1"/>
          <p:cNvSpPr/>
          <p:nvPr/>
        </p:nvSpPr>
        <p:spPr>
          <a:xfrm>
            <a:off x="5248656" y="3566160"/>
            <a:ext cx="426720" cy="237744"/>
          </a:xfrm>
          <a:prstGeom prst="roundRect">
            <a:avLst>
              <a:gd name="adj" fmla="val 30769"/>
            </a:avLst>
          </a:prstGeom>
          <a:solidFill>
            <a:srgbClr val="12A670"/>
          </a:solidFill>
          <a:ln w="9525">
            <a:solidFill>
              <a:srgbClr val="12A670"/>
            </a:solidFill>
            <a:prstDash val="solid"/>
          </a:ln>
        </p:spPr>
      </p:sp>
      <p:sp>
        <p:nvSpPr>
          <p:cNvPr id="76" name="Slot text 1"/>
          <p:cNvSpPr txBox="1"/>
          <p:nvPr/>
        </p:nvSpPr>
        <p:spPr>
          <a:xfrm>
            <a:off x="5248656" y="3566160"/>
            <a:ext cx="42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800" dirty="0"/>
          </a:p>
        </p:txBody>
      </p:sp>
      <p:sp>
        <p:nvSpPr>
          <p:cNvPr id="77" name="Slot chip 2"/>
          <p:cNvSpPr/>
          <p:nvPr/>
        </p:nvSpPr>
        <p:spPr>
          <a:xfrm>
            <a:off x="5730240" y="3566160"/>
            <a:ext cx="42672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CFE3DC"/>
            </a:solidFill>
            <a:prstDash val="solid"/>
          </a:ln>
        </p:spPr>
      </p:sp>
      <p:sp>
        <p:nvSpPr>
          <p:cNvPr id="78" name="Slot text 2"/>
          <p:cNvSpPr txBox="1"/>
          <p:nvPr/>
        </p:nvSpPr>
        <p:spPr>
          <a:xfrm>
            <a:off x="5730240" y="3566160"/>
            <a:ext cx="42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800" dirty="0"/>
          </a:p>
        </p:txBody>
      </p:sp>
      <p:sp>
        <p:nvSpPr>
          <p:cNvPr id="79" name="Slot chip 3"/>
          <p:cNvSpPr/>
          <p:nvPr/>
        </p:nvSpPr>
        <p:spPr>
          <a:xfrm>
            <a:off x="6211824" y="3566160"/>
            <a:ext cx="42672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CFE3DC"/>
            </a:solidFill>
            <a:prstDash val="solid"/>
          </a:ln>
        </p:spPr>
      </p:sp>
      <p:sp>
        <p:nvSpPr>
          <p:cNvPr id="80" name="Slot text 3"/>
          <p:cNvSpPr txBox="1"/>
          <p:nvPr/>
        </p:nvSpPr>
        <p:spPr>
          <a:xfrm>
            <a:off x="6211824" y="3566160"/>
            <a:ext cx="42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81" name="Detail button"/>
          <p:cNvSpPr/>
          <p:nvPr/>
        </p:nvSpPr>
        <p:spPr>
          <a:xfrm>
            <a:off x="5248656" y="3867912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2" name="Detail button text"/>
          <p:cNvSpPr txBox="1"/>
          <p:nvPr/>
        </p:nvSpPr>
        <p:spPr>
          <a:xfrm>
            <a:off x="5248656" y="38679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now</a:t>
            </a:r>
            <a:endParaRPr lang="en-US" sz="1000" dirty="0"/>
          </a:p>
        </p:txBody>
      </p:sp>
      <p:sp>
        <p:nvSpPr>
          <p:cNvPr id="83" name="Phone pay frame"/>
          <p:cNvSpPr/>
          <p:nvPr/>
        </p:nvSpPr>
        <p:spPr>
          <a:xfrm>
            <a:off x="6949440" y="1280160"/>
            <a:ext cx="1737360" cy="306324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4" name="Phone pay screen"/>
          <p:cNvSpPr/>
          <p:nvPr/>
        </p:nvSpPr>
        <p:spPr>
          <a:xfrm>
            <a:off x="7013448" y="1344168"/>
            <a:ext cx="1609344" cy="2935224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Phone pay notch"/>
          <p:cNvSpPr/>
          <p:nvPr/>
        </p:nvSpPr>
        <p:spPr>
          <a:xfrm>
            <a:off x="7589520" y="1389888"/>
            <a:ext cx="457200" cy="7315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6" name="Pay heading"/>
          <p:cNvSpPr txBox="1"/>
          <p:nvPr/>
        </p:nvSpPr>
        <p:spPr>
          <a:xfrm>
            <a:off x="7123176" y="159105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87" name="Pay amount"/>
          <p:cNvSpPr txBox="1"/>
          <p:nvPr/>
        </p:nvSpPr>
        <p:spPr>
          <a:xfrm>
            <a:off x="7123176" y="193852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200</a:t>
            </a:r>
            <a:endParaRPr lang="en-US" sz="2600" dirty="0"/>
          </a:p>
        </p:txBody>
      </p:sp>
      <p:sp>
        <p:nvSpPr>
          <p:cNvPr id="88" name="Pay sub"/>
          <p:cNvSpPr txBox="1"/>
          <p:nvPr/>
        </p:nvSpPr>
        <p:spPr>
          <a:xfrm>
            <a:off x="7123176" y="23500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kWh  |  30 min session</a:t>
            </a:r>
            <a:endParaRPr lang="en-US" sz="800" dirty="0"/>
          </a:p>
        </p:txBody>
      </p:sp>
      <p:sp>
        <p:nvSpPr>
          <p:cNvPr id="89" name="Split host"/>
          <p:cNvSpPr/>
          <p:nvPr/>
        </p:nvSpPr>
        <p:spPr>
          <a:xfrm>
            <a:off x="7123176" y="2670048"/>
            <a:ext cx="1181405" cy="182880"/>
          </a:xfrm>
          <a:prstGeom prst="rect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90" name="Split platform"/>
          <p:cNvSpPr/>
          <p:nvPr/>
        </p:nvSpPr>
        <p:spPr>
          <a:xfrm>
            <a:off x="8304581" y="2670048"/>
            <a:ext cx="208483" cy="182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1" name="Legend host dot"/>
          <p:cNvSpPr/>
          <p:nvPr/>
        </p:nvSpPr>
        <p:spPr>
          <a:xfrm>
            <a:off x="7123176" y="2880360"/>
            <a:ext cx="91440" cy="91440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92" name="Legend host"/>
          <p:cNvSpPr txBox="1"/>
          <p:nvPr/>
        </p:nvSpPr>
        <p:spPr>
          <a:xfrm>
            <a:off x="7260336" y="2834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 Rs 170</a:t>
            </a:r>
            <a:endParaRPr lang="en-US" sz="800" dirty="0"/>
          </a:p>
        </p:txBody>
      </p:sp>
      <p:sp>
        <p:nvSpPr>
          <p:cNvPr id="93" name="Legend platform dot"/>
          <p:cNvSpPr/>
          <p:nvPr/>
        </p:nvSpPr>
        <p:spPr>
          <a:xfrm>
            <a:off x="7123176" y="3081528"/>
            <a:ext cx="91440" cy="9144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4" name="Legend platform"/>
          <p:cNvSpPr txBox="1"/>
          <p:nvPr/>
        </p:nvSpPr>
        <p:spPr>
          <a:xfrm>
            <a:off x="7260336" y="3035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 Rs 30</a:t>
            </a:r>
            <a:endParaRPr lang="en-US" sz="800" dirty="0"/>
          </a:p>
        </p:txBody>
      </p:sp>
      <p:sp>
        <p:nvSpPr>
          <p:cNvPr id="95" name="Pay confirm card"/>
          <p:cNvSpPr/>
          <p:nvPr/>
        </p:nvSpPr>
        <p:spPr>
          <a:xfrm>
            <a:off x="7123176" y="3310128"/>
            <a:ext cx="1389888" cy="457200"/>
          </a:xfrm>
          <a:prstGeom prst="roundRect">
            <a:avLst>
              <a:gd name="adj" fmla="val 200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96" name="Pay check dot"/>
          <p:cNvSpPr/>
          <p:nvPr/>
        </p:nvSpPr>
        <p:spPr>
          <a:xfrm>
            <a:off x="7214616" y="3419856"/>
            <a:ext cx="237744" cy="237744"/>
          </a:xfrm>
          <a:prstGeom prst="ellipse">
            <a:avLst/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97" name="Pay check text"/>
          <p:cNvSpPr txBox="1"/>
          <p:nvPr/>
        </p:nvSpPr>
        <p:spPr>
          <a:xfrm>
            <a:off x="7214616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98" name="Pay confirm title"/>
          <p:cNvSpPr txBox="1"/>
          <p:nvPr/>
        </p:nvSpPr>
        <p:spPr>
          <a:xfrm>
            <a:off x="7543800" y="33467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confirmed</a:t>
            </a:r>
            <a:endParaRPr lang="en-US" sz="900" dirty="0"/>
          </a:p>
        </p:txBody>
      </p:sp>
      <p:sp>
        <p:nvSpPr>
          <p:cNvPr id="99" name="Pay confirm sub"/>
          <p:cNvSpPr txBox="1"/>
          <p:nvPr/>
        </p:nvSpPr>
        <p:spPr>
          <a:xfrm>
            <a:off x="7543800" y="353872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until done</a:t>
            </a:r>
            <a:endParaRPr lang="en-US" sz="800" dirty="0"/>
          </a:p>
        </p:txBody>
      </p:sp>
      <p:sp>
        <p:nvSpPr>
          <p:cNvPr id="100" name="Pay button"/>
          <p:cNvSpPr/>
          <p:nvPr/>
        </p:nvSpPr>
        <p:spPr>
          <a:xfrm>
            <a:off x="7123176" y="3867912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101" name="Pay button text"/>
          <p:cNvSpPr txBox="1"/>
          <p:nvPr/>
        </p:nvSpPr>
        <p:spPr>
          <a:xfrm>
            <a:off x="7123176" y="38679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(simulated)</a:t>
            </a:r>
            <a:endParaRPr lang="en-US" sz="1000" dirty="0"/>
          </a:p>
        </p:txBody>
      </p:sp>
      <p:sp>
        <p:nvSpPr>
          <p:cNvPr id="102" name="Phone caption 1"/>
          <p:cNvSpPr txBox="1"/>
          <p:nvPr/>
        </p:nvSpPr>
        <p:spPr>
          <a:xfrm>
            <a:off x="320040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  Discover</a:t>
            </a:r>
            <a:endParaRPr lang="en-US" sz="1400" dirty="0"/>
          </a:p>
        </p:txBody>
      </p:sp>
      <p:sp>
        <p:nvSpPr>
          <p:cNvPr id="103" name="Phone caption 2"/>
          <p:cNvSpPr txBox="1"/>
          <p:nvPr/>
        </p:nvSpPr>
        <p:spPr>
          <a:xfrm>
            <a:off x="507492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  Match and book</a:t>
            </a:r>
            <a:endParaRPr lang="en-US" sz="1400" dirty="0"/>
          </a:p>
        </p:txBody>
      </p:sp>
      <p:sp>
        <p:nvSpPr>
          <p:cNvPr id="104" name="Phone caption 3"/>
          <p:cNvSpPr txBox="1"/>
          <p:nvPr/>
        </p:nvSpPr>
        <p:spPr>
          <a:xfrm>
            <a:off x="694944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  Pay and charge</a:t>
            </a:r>
            <a:endParaRPr lang="en-US" sz="1400" dirty="0"/>
          </a:p>
        </p:txBody>
      </p:sp>
      <p:sp>
        <p:nvSpPr>
          <p:cNvPr id="10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pill"/>
          <p:cNvSpPr/>
          <p:nvPr/>
        </p:nvSpPr>
        <p:spPr>
          <a:xfrm>
            <a:off x="457200" y="18288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Project pill text"/>
          <p:cNvSpPr txBox="1"/>
          <p:nvPr/>
        </p:nvSpPr>
        <p:spPr>
          <a:xfrm>
            <a:off x="457200" y="182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ChargeShare</a:t>
            </a:r>
            <a:endParaRPr lang="en-US" sz="1200" dirty="0"/>
          </a:p>
        </p:txBody>
      </p:sp>
      <p:sp>
        <p:nvSpPr>
          <p:cNvPr id="5" name="Event bolt circle"/>
          <p:cNvSpPr/>
          <p:nvPr/>
        </p:nvSpPr>
        <p:spPr>
          <a:xfrm>
            <a:off x="8321040" y="1828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Event bolt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873" y="263713"/>
            <a:ext cx="149230" cy="149230"/>
          </a:xfrm>
          <a:prstGeom prst="rect">
            <a:avLst/>
          </a:prstGeom>
        </p:spPr>
      </p:pic>
      <p:sp>
        <p:nvSpPr>
          <p:cNvPr id="7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Feasibility and Viability</a:t>
            </a:r>
            <a:endParaRPr lang="en-US" sz="3000" dirty="0"/>
          </a:p>
        </p:txBody>
      </p:sp>
      <p:sp>
        <p:nvSpPr>
          <p:cNvPr id="8" name="Feasibility card 1"/>
          <p:cNvSpPr/>
          <p:nvPr/>
        </p:nvSpPr>
        <p:spPr>
          <a:xfrm>
            <a:off x="45720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9" name="Feasibility 1 circle"/>
          <p:cNvSpPr/>
          <p:nvPr/>
        </p:nvSpPr>
        <p:spPr>
          <a:xfrm>
            <a:off x="640080" y="1389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easibility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1489740"/>
            <a:ext cx="184343" cy="184343"/>
          </a:xfrm>
          <a:prstGeom prst="rect">
            <a:avLst/>
          </a:prstGeom>
        </p:spPr>
      </p:pic>
      <p:sp>
        <p:nvSpPr>
          <p:cNvPr id="11" name="Feasibility title 1"/>
          <p:cNvSpPr txBox="1"/>
          <p:nvPr/>
        </p:nvSpPr>
        <p:spPr>
          <a:xfrm>
            <a:off x="1115568" y="1389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Operational Feasibility</a:t>
            </a:r>
            <a:endParaRPr lang="en-US" sz="1400" dirty="0"/>
          </a:p>
        </p:txBody>
      </p:sp>
      <p:sp>
        <p:nvSpPr>
          <p:cNvPr id="12" name="Feasibility bullets 1"/>
          <p:cNvSpPr txBox="1"/>
          <p:nvPr/>
        </p:nvSpPr>
        <p:spPr>
          <a:xfrm>
            <a:off x="64008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Hosts onboard in minutes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on highways and in cities</a:t>
            </a:r>
            <a:endParaRPr lang="en-US" sz="1400" dirty="0"/>
          </a:p>
        </p:txBody>
      </p:sp>
      <p:sp>
        <p:nvSpPr>
          <p:cNvPr id="13" name="Feasibility card 2"/>
          <p:cNvSpPr/>
          <p:nvPr/>
        </p:nvSpPr>
        <p:spPr>
          <a:xfrm>
            <a:off x="329184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4" name="Feasibility 2 circle"/>
          <p:cNvSpPr/>
          <p:nvPr/>
        </p:nvSpPr>
        <p:spPr>
          <a:xfrm>
            <a:off x="3474720" y="13898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Feasibility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572" y="1489740"/>
            <a:ext cx="184343" cy="184343"/>
          </a:xfrm>
          <a:prstGeom prst="rect">
            <a:avLst/>
          </a:prstGeom>
        </p:spPr>
      </p:pic>
      <p:sp>
        <p:nvSpPr>
          <p:cNvPr id="16" name="Feasibility title 2"/>
          <p:cNvSpPr txBox="1"/>
          <p:nvPr/>
        </p:nvSpPr>
        <p:spPr>
          <a:xfrm>
            <a:off x="3950208" y="1389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Technical Feasibility</a:t>
            </a:r>
            <a:endParaRPr lang="en-US" sz="1400" dirty="0"/>
          </a:p>
        </p:txBody>
      </p:sp>
      <p:sp>
        <p:nvSpPr>
          <p:cNvPr id="17" name="Feasibility bullets 2"/>
          <p:cNvSpPr txBox="1"/>
          <p:nvPr/>
        </p:nvSpPr>
        <p:spPr>
          <a:xfrm>
            <a:off x="34747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web and cloud stack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Maps, geo-search, simulated pay</a:t>
            </a:r>
            <a:endParaRPr lang="en-US" sz="1400" dirty="0"/>
          </a:p>
        </p:txBody>
      </p:sp>
      <p:sp>
        <p:nvSpPr>
          <p:cNvPr id="18" name="Feasibility card 3"/>
          <p:cNvSpPr/>
          <p:nvPr/>
        </p:nvSpPr>
        <p:spPr>
          <a:xfrm>
            <a:off x="612648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9" name="Feasibility 3 circle"/>
          <p:cNvSpPr/>
          <p:nvPr/>
        </p:nvSpPr>
        <p:spPr>
          <a:xfrm>
            <a:off x="6309360" y="13898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Feasibility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212" y="1489740"/>
            <a:ext cx="184343" cy="184343"/>
          </a:xfrm>
          <a:prstGeom prst="rect">
            <a:avLst/>
          </a:prstGeom>
        </p:spPr>
      </p:pic>
      <p:sp>
        <p:nvSpPr>
          <p:cNvPr id="21" name="Feasibility title 3"/>
          <p:cNvSpPr txBox="1"/>
          <p:nvPr/>
        </p:nvSpPr>
        <p:spPr>
          <a:xfrm>
            <a:off x="6784848" y="1389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Financial Feasibility</a:t>
            </a:r>
            <a:endParaRPr lang="en-US" sz="1400" dirty="0"/>
          </a:p>
        </p:txBody>
      </p:sp>
      <p:sp>
        <p:nvSpPr>
          <p:cNvPr id="22" name="Feasibility bullets 3"/>
          <p:cNvSpPr txBox="1"/>
          <p:nvPr/>
        </p:nvSpPr>
        <p:spPr>
          <a:xfrm>
            <a:off x="630936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 to 15% commission per session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cost: no hardware to build</a:t>
            </a:r>
            <a:endParaRPr lang="en-US" sz="1400" dirty="0"/>
          </a:p>
        </p:txBody>
      </p:sp>
      <p:sp>
        <p:nvSpPr>
          <p:cNvPr id="23" name="Risk card"/>
          <p:cNvSpPr/>
          <p:nvPr/>
        </p:nvSpPr>
        <p:spPr>
          <a:xfrm>
            <a:off x="457200" y="329184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4" name="Risk heading"/>
          <p:cNvSpPr txBox="1"/>
          <p:nvPr/>
        </p:nvSpPr>
        <p:spPr>
          <a:xfrm>
            <a:off x="64008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CHALLENGES AND RISKS</a:t>
            </a:r>
            <a:endParaRPr lang="en-US" sz="1400" dirty="0"/>
          </a:p>
        </p:txBody>
      </p:sp>
      <p:sp>
        <p:nvSpPr>
          <p:cNvPr id="25" name="Risk bullets"/>
          <p:cNvSpPr txBox="1"/>
          <p:nvPr/>
        </p:nvSpPr>
        <p:spPr>
          <a:xfrm>
            <a:off x="64008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Trust between strangers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Charger mismatch or unsafe use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 few hosts at launch</a:t>
            </a:r>
            <a:endParaRPr lang="en-US" sz="1400" dirty="0"/>
          </a:p>
        </p:txBody>
      </p:sp>
      <p:sp>
        <p:nvSpPr>
          <p:cNvPr id="26" name="Risk arrow"/>
          <p:cNvSpPr/>
          <p:nvPr/>
        </p:nvSpPr>
        <p:spPr>
          <a:xfrm>
            <a:off x="4297680" y="3749040"/>
            <a:ext cx="54864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Mitigation card"/>
          <p:cNvSpPr/>
          <p:nvPr/>
        </p:nvSpPr>
        <p:spPr>
          <a:xfrm>
            <a:off x="4937760" y="329184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28" name="Mitigation heading"/>
          <p:cNvSpPr txBox="1"/>
          <p:nvPr/>
        </p:nvSpPr>
        <p:spPr>
          <a:xfrm>
            <a:off x="512064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RISKS AND MITIGATION</a:t>
            </a:r>
            <a:endParaRPr lang="en-US" sz="1400" dirty="0"/>
          </a:p>
        </p:txBody>
      </p:sp>
      <p:sp>
        <p:nvSpPr>
          <p:cNvPr id="29" name="Mitigation bullets"/>
          <p:cNvSpPr txBox="1"/>
          <p:nvPr/>
        </p:nvSpPr>
        <p:spPr>
          <a:xfrm>
            <a:off x="512064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 checks, ratings, held payments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Colour tiers and host power limits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Seed hosts along pilot routes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pill"/>
          <p:cNvSpPr/>
          <p:nvPr/>
        </p:nvSpPr>
        <p:spPr>
          <a:xfrm>
            <a:off x="457200" y="18288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Project pill text"/>
          <p:cNvSpPr txBox="1"/>
          <p:nvPr/>
        </p:nvSpPr>
        <p:spPr>
          <a:xfrm>
            <a:off x="457200" y="182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ChargeShare</a:t>
            </a:r>
            <a:endParaRPr lang="en-US" sz="1200" dirty="0"/>
          </a:p>
        </p:txBody>
      </p:sp>
      <p:sp>
        <p:nvSpPr>
          <p:cNvPr id="5" name="Event bolt circle"/>
          <p:cNvSpPr/>
          <p:nvPr/>
        </p:nvSpPr>
        <p:spPr>
          <a:xfrm>
            <a:off x="8321040" y="1828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Event bolt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873" y="263713"/>
            <a:ext cx="149230" cy="149230"/>
          </a:xfrm>
          <a:prstGeom prst="rect">
            <a:avLst/>
          </a:prstGeom>
        </p:spPr>
      </p:pic>
      <p:sp>
        <p:nvSpPr>
          <p:cNvPr id="7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Impact and Benefits</a:t>
            </a:r>
            <a:endParaRPr lang="en-US" sz="3000" dirty="0"/>
          </a:p>
        </p:txBody>
      </p:sp>
      <p:sp>
        <p:nvSpPr>
          <p:cNvPr id="8" name="Impact card 1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9" name="Impact 1 circle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pact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1651406"/>
            <a:ext cx="263347" cy="263347"/>
          </a:xfrm>
          <a:prstGeom prst="rect">
            <a:avLst/>
          </a:prstGeom>
        </p:spPr>
      </p:pic>
      <p:sp>
        <p:nvSpPr>
          <p:cNvPr id="11" name="Impact title 1"/>
          <p:cNvSpPr txBox="1"/>
          <p:nvPr/>
        </p:nvSpPr>
        <p:spPr>
          <a:xfrm>
            <a:off x="137160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 EV drivers</a:t>
            </a:r>
            <a:endParaRPr lang="en-US" sz="1400" dirty="0"/>
          </a:p>
        </p:txBody>
      </p:sp>
      <p:sp>
        <p:nvSpPr>
          <p:cNvPr id="12" name="Impact text 1"/>
          <p:cNvSpPr txBox="1"/>
          <p:nvPr/>
        </p:nvSpPr>
        <p:spPr>
          <a:xfrm>
            <a:off x="1371600" y="1664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Rescue in minutes, with less range anxiety on long trips.</a:t>
            </a:r>
            <a:endParaRPr lang="en-US" sz="1400" dirty="0"/>
          </a:p>
        </p:txBody>
      </p:sp>
      <p:sp>
        <p:nvSpPr>
          <p:cNvPr id="13" name="Impact card 2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4" name="Impact 2 circle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pact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2794406"/>
            <a:ext cx="263347" cy="263347"/>
          </a:xfrm>
          <a:prstGeom prst="rect">
            <a:avLst/>
          </a:prstGeom>
        </p:spPr>
      </p:pic>
      <p:sp>
        <p:nvSpPr>
          <p:cNvPr id="16" name="Impact title 2"/>
          <p:cNvSpPr txBox="1"/>
          <p:nvPr/>
        </p:nvSpPr>
        <p:spPr>
          <a:xfrm>
            <a:off x="1371600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 charger hosts</a:t>
            </a:r>
            <a:endParaRPr lang="en-US" sz="1400" dirty="0"/>
          </a:p>
        </p:txBody>
      </p:sp>
      <p:sp>
        <p:nvSpPr>
          <p:cNvPr id="17" name="Impact text 2"/>
          <p:cNvSpPr txBox="1"/>
          <p:nvPr/>
        </p:nvSpPr>
        <p:spPr>
          <a:xfrm>
            <a:off x="1371600" y="2807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Earn from chargers that would otherwise sit idle.</a:t>
            </a:r>
            <a:endParaRPr lang="en-US" sz="1400" dirty="0"/>
          </a:p>
        </p:txBody>
      </p:sp>
      <p:sp>
        <p:nvSpPr>
          <p:cNvPr id="18" name="Impact card 3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3F7F6"/>
          </a:solidFill>
          <a:ln w="12700">
            <a:solidFill>
              <a:srgbClr val="F3F7F6"/>
            </a:solidFill>
            <a:prstDash val="solid"/>
          </a:ln>
        </p:spPr>
      </p:sp>
      <p:sp>
        <p:nvSpPr>
          <p:cNvPr id="19" name="Impact 3 circle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pact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" y="3937406"/>
            <a:ext cx="263347" cy="263347"/>
          </a:xfrm>
          <a:prstGeom prst="rect">
            <a:avLst/>
          </a:prstGeom>
        </p:spPr>
      </p:pic>
      <p:sp>
        <p:nvSpPr>
          <p:cNvPr id="21" name="Impact title 3"/>
          <p:cNvSpPr txBox="1"/>
          <p:nvPr/>
        </p:nvSpPr>
        <p:spPr>
          <a:xfrm>
            <a:off x="1371600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 cities and operators</a:t>
            </a:r>
            <a:endParaRPr lang="en-US" sz="1400" dirty="0"/>
          </a:p>
        </p:txBody>
      </p:sp>
      <p:sp>
        <p:nvSpPr>
          <p:cNvPr id="22" name="Impact text 3"/>
          <p:cNvSpPr txBox="1"/>
          <p:nvPr/>
        </p:nvSpPr>
        <p:spPr>
          <a:xfrm>
            <a:off x="1371600" y="3950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Wider charging coverage with no new hardware.</a:t>
            </a:r>
            <a:endParaRPr lang="en-US" sz="1400" dirty="0"/>
          </a:p>
        </p:txBody>
      </p:sp>
      <p:sp>
        <p:nvSpPr>
          <p:cNvPr id="23" name="Architecture card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Arch heading"/>
          <p:cNvSpPr txBox="1"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25" name="Clients label"/>
          <p:cNvSpPr txBox="1"/>
          <p:nvPr/>
        </p:nvSpPr>
        <p:spPr>
          <a:xfrm>
            <a:off x="484632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CLIENTS</a:t>
            </a:r>
            <a:endParaRPr lang="en-US" sz="1100" dirty="0"/>
          </a:p>
        </p:txBody>
      </p:sp>
      <p:sp>
        <p:nvSpPr>
          <p:cNvPr id="26" name="Clients box 1"/>
          <p:cNvSpPr/>
          <p:nvPr/>
        </p:nvSpPr>
        <p:spPr>
          <a:xfrm>
            <a:off x="4846320" y="19202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Clients text 1"/>
          <p:cNvSpPr txBox="1"/>
          <p:nvPr/>
        </p:nvSpPr>
        <p:spPr>
          <a:xfrm>
            <a:off x="4882896" y="192024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Driver app</a:t>
            </a:r>
            <a:endParaRPr lang="en-US" sz="1100" dirty="0"/>
          </a:p>
        </p:txBody>
      </p:sp>
      <p:sp>
        <p:nvSpPr>
          <p:cNvPr id="28" name="Clients box 2"/>
          <p:cNvSpPr/>
          <p:nvPr/>
        </p:nvSpPr>
        <p:spPr>
          <a:xfrm>
            <a:off x="6720840" y="192024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Clients text 2"/>
          <p:cNvSpPr txBox="1"/>
          <p:nvPr/>
        </p:nvSpPr>
        <p:spPr>
          <a:xfrm>
            <a:off x="6757416" y="192024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 app</a:t>
            </a:r>
            <a:endParaRPr lang="en-US" sz="1100" dirty="0"/>
          </a:p>
        </p:txBody>
      </p:sp>
      <p:sp>
        <p:nvSpPr>
          <p:cNvPr id="30" name="Arch arrow 1"/>
          <p:cNvSpPr/>
          <p:nvPr/>
        </p:nvSpPr>
        <p:spPr>
          <a:xfrm>
            <a:off x="6583680" y="2377440"/>
            <a:ext cx="182880" cy="16459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Services label"/>
          <p:cNvSpPr txBox="1"/>
          <p:nvPr/>
        </p:nvSpPr>
        <p:spPr>
          <a:xfrm>
            <a:off x="484632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SERVICES</a:t>
            </a:r>
            <a:endParaRPr lang="en-US" sz="1100" dirty="0"/>
          </a:p>
        </p:txBody>
      </p:sp>
      <p:sp>
        <p:nvSpPr>
          <p:cNvPr id="32" name="Services box 1"/>
          <p:cNvSpPr/>
          <p:nvPr/>
        </p:nvSpPr>
        <p:spPr>
          <a:xfrm>
            <a:off x="4846320" y="2788920"/>
            <a:ext cx="1158240" cy="411480"/>
          </a:xfrm>
          <a:prstGeom prst="roundRect">
            <a:avLst>
              <a:gd name="adj" fmla="val 17778"/>
            </a:avLst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33" name="Services text 1"/>
          <p:cNvSpPr txBox="1"/>
          <p:nvPr/>
        </p:nvSpPr>
        <p:spPr>
          <a:xfrm>
            <a:off x="4882896" y="2788920"/>
            <a:ext cx="1085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Matching</a:t>
            </a:r>
            <a:endParaRPr lang="en-US" sz="1100" dirty="0"/>
          </a:p>
        </p:txBody>
      </p:sp>
      <p:sp>
        <p:nvSpPr>
          <p:cNvPr id="34" name="Services box 2"/>
          <p:cNvSpPr/>
          <p:nvPr/>
        </p:nvSpPr>
        <p:spPr>
          <a:xfrm>
            <a:off x="6096000" y="2788920"/>
            <a:ext cx="1158240" cy="411480"/>
          </a:xfrm>
          <a:prstGeom prst="roundRect">
            <a:avLst>
              <a:gd name="adj" fmla="val 17778"/>
            </a:avLst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35" name="Services text 2"/>
          <p:cNvSpPr txBox="1"/>
          <p:nvPr/>
        </p:nvSpPr>
        <p:spPr>
          <a:xfrm>
            <a:off x="6132576" y="2788920"/>
            <a:ext cx="1085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</a:t>
            </a:r>
            <a:endParaRPr lang="en-US" sz="1100" dirty="0"/>
          </a:p>
        </p:txBody>
      </p:sp>
      <p:sp>
        <p:nvSpPr>
          <p:cNvPr id="36" name="Services box 3"/>
          <p:cNvSpPr/>
          <p:nvPr/>
        </p:nvSpPr>
        <p:spPr>
          <a:xfrm>
            <a:off x="7345680" y="2788920"/>
            <a:ext cx="1158240" cy="411480"/>
          </a:xfrm>
          <a:prstGeom prst="roundRect">
            <a:avLst>
              <a:gd name="adj" fmla="val 17778"/>
            </a:avLst>
          </a:prstGeom>
          <a:solidFill>
            <a:srgbClr val="12A670"/>
          </a:solidFill>
          <a:ln w="12700">
            <a:solidFill>
              <a:srgbClr val="12A670"/>
            </a:solidFill>
            <a:prstDash val="solid"/>
          </a:ln>
        </p:spPr>
      </p:sp>
      <p:sp>
        <p:nvSpPr>
          <p:cNvPr id="37" name="Services text 3"/>
          <p:cNvSpPr txBox="1"/>
          <p:nvPr/>
        </p:nvSpPr>
        <p:spPr>
          <a:xfrm>
            <a:off x="7382256" y="2788920"/>
            <a:ext cx="1085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Payments</a:t>
            </a:r>
            <a:endParaRPr lang="en-US" sz="1100" dirty="0"/>
          </a:p>
        </p:txBody>
      </p:sp>
      <p:sp>
        <p:nvSpPr>
          <p:cNvPr id="38" name="Arch arrow 2"/>
          <p:cNvSpPr/>
          <p:nvPr/>
        </p:nvSpPr>
        <p:spPr>
          <a:xfrm>
            <a:off x="6583680" y="3246120"/>
            <a:ext cx="182880" cy="16459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Data label"/>
          <p:cNvSpPr txBox="1"/>
          <p:nvPr/>
        </p:nvSpPr>
        <p:spPr>
          <a:xfrm>
            <a:off x="4846320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DATA</a:t>
            </a:r>
            <a:endParaRPr lang="en-US" sz="1100" dirty="0"/>
          </a:p>
        </p:txBody>
      </p:sp>
      <p:sp>
        <p:nvSpPr>
          <p:cNvPr id="40" name="Data box 1"/>
          <p:cNvSpPr/>
          <p:nvPr/>
        </p:nvSpPr>
        <p:spPr>
          <a:xfrm>
            <a:off x="4846320" y="3657600"/>
            <a:ext cx="1158240" cy="411480"/>
          </a:xfrm>
          <a:prstGeom prst="roundRect">
            <a:avLst>
              <a:gd name="adj" fmla="val 17778"/>
            </a:avLst>
          </a:prstGeom>
          <a:solidFill>
            <a:srgbClr val="5F7A82"/>
          </a:solidFill>
          <a:ln w="12700">
            <a:solidFill>
              <a:srgbClr val="5F7A82"/>
            </a:solidFill>
            <a:prstDash val="solid"/>
          </a:ln>
        </p:spPr>
      </p:sp>
      <p:sp>
        <p:nvSpPr>
          <p:cNvPr id="41" name="Data text 1"/>
          <p:cNvSpPr txBox="1"/>
          <p:nvPr/>
        </p:nvSpPr>
        <p:spPr>
          <a:xfrm>
            <a:off x="4882896" y="3657600"/>
            <a:ext cx="1085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Charger registry</a:t>
            </a:r>
            <a:endParaRPr lang="en-US" sz="1100" dirty="0"/>
          </a:p>
        </p:txBody>
      </p:sp>
      <p:sp>
        <p:nvSpPr>
          <p:cNvPr id="42" name="Data box 2"/>
          <p:cNvSpPr/>
          <p:nvPr/>
        </p:nvSpPr>
        <p:spPr>
          <a:xfrm>
            <a:off x="6096000" y="3657600"/>
            <a:ext cx="1158240" cy="411480"/>
          </a:xfrm>
          <a:prstGeom prst="roundRect">
            <a:avLst>
              <a:gd name="adj" fmla="val 17778"/>
            </a:avLst>
          </a:prstGeom>
          <a:solidFill>
            <a:srgbClr val="5F7A82"/>
          </a:solidFill>
          <a:ln w="12700">
            <a:solidFill>
              <a:srgbClr val="5F7A82"/>
            </a:solidFill>
            <a:prstDash val="solid"/>
          </a:ln>
        </p:spPr>
      </p:sp>
      <p:sp>
        <p:nvSpPr>
          <p:cNvPr id="43" name="Data text 2"/>
          <p:cNvSpPr txBox="1"/>
          <p:nvPr/>
        </p:nvSpPr>
        <p:spPr>
          <a:xfrm>
            <a:off x="6132576" y="3657600"/>
            <a:ext cx="1085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Geo database</a:t>
            </a:r>
            <a:endParaRPr lang="en-US" sz="1100" dirty="0"/>
          </a:p>
        </p:txBody>
      </p:sp>
      <p:sp>
        <p:nvSpPr>
          <p:cNvPr id="44" name="Data box 3"/>
          <p:cNvSpPr/>
          <p:nvPr/>
        </p:nvSpPr>
        <p:spPr>
          <a:xfrm>
            <a:off x="7345680" y="3657600"/>
            <a:ext cx="1158240" cy="411480"/>
          </a:xfrm>
          <a:prstGeom prst="roundRect">
            <a:avLst>
              <a:gd name="adj" fmla="val 17778"/>
            </a:avLst>
          </a:prstGeom>
          <a:solidFill>
            <a:srgbClr val="5F7A82"/>
          </a:solidFill>
          <a:ln w="12700">
            <a:solidFill>
              <a:srgbClr val="5F7A82"/>
            </a:solidFill>
            <a:prstDash val="solid"/>
          </a:ln>
        </p:spPr>
      </p:sp>
      <p:sp>
        <p:nvSpPr>
          <p:cNvPr id="45" name="Data text 3"/>
          <p:cNvSpPr txBox="1"/>
          <p:nvPr/>
        </p:nvSpPr>
        <p:spPr>
          <a:xfrm>
            <a:off x="7382256" y="3657600"/>
            <a:ext cx="1085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Maps API</a:t>
            </a:r>
            <a:endParaRPr lang="en-US" sz="1100" dirty="0"/>
          </a:p>
        </p:txBody>
      </p:sp>
      <p:sp>
        <p:nvSpPr>
          <p:cNvPr id="46" name="Arch note"/>
          <p:cNvSpPr txBox="1"/>
          <p:nvPr/>
        </p:nvSpPr>
        <p:spPr>
          <a:xfrm>
            <a:off x="48463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Matching returns green, yellow and red results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rgeShare SIH">
  <a:themeElements>
    <a:clrScheme name="ChargeShare SIH">
      <a:dk1>
        <a:srgbClr val="0B1F2A"/>
      </a:dk1>
      <a:lt1>
        <a:srgbClr val="FFFFFF"/>
      </a:lt1>
      <a:dk2>
        <a:srgbClr val="123C45"/>
      </a:dk2>
      <a:lt2>
        <a:srgbClr val="E9F6F1"/>
      </a:lt2>
      <a:accent1>
        <a:srgbClr val="12A670"/>
      </a:accent1>
      <a:accent2>
        <a:srgbClr val="FFB020"/>
      </a:accent2>
      <a:accent3>
        <a:srgbClr val="1C7293"/>
      </a:accent3>
      <a:accent4>
        <a:srgbClr val="E5484D"/>
      </a:accent4>
      <a:accent5>
        <a:srgbClr val="5F7A82"/>
      </a:accent5>
      <a:accent6>
        <a:srgbClr val="2EE59D"/>
      </a:accent6>
      <a:hlink>
        <a:srgbClr val="1C7293"/>
      </a:hlink>
      <a:folHlink>
        <a:srgbClr val="5F7A82"/>
      </a:folHlink>
    </a:clrScheme>
    <a:fontScheme name="ChargeShare SI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585</Words>
  <Application>Microsoft Office PowerPoint</Application>
  <PresentationFormat>On-screen Show (16:9)</PresentationFormat>
  <Paragraphs>125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ChargeShare SIH</vt:lpstr>
      <vt:lpstr>PowerPoint Presentation</vt:lpstr>
      <vt:lpstr>Problem and Proposed Solution</vt:lpstr>
      <vt:lpstr>Technical Approach</vt:lpstr>
      <vt:lpstr>Feasibility and Viability</vt:lpstr>
      <vt:lpstr>Impact and Benefits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ChargeShare - Peer-to-Peer Emergency EV Charging Network</dc:title>
  <dc:subject>PptxGenJS Presentation</dc:subject>
  <dc:creator>PptxGenJS</dc:creator>
  <cp:lastModifiedBy>WELCOME</cp:lastModifiedBy>
  <cp:revision>3</cp:revision>
  <dcterms:created xsi:type="dcterms:W3CDTF">2026-10-20T03:33:42Z</dcterms:created>
  <dcterms:modified xsi:type="dcterms:W3CDTF">2026-10-20T06:11:02Z</dcterms:modified>
</cp:coreProperties>
</file>